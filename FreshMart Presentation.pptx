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FreshMart%20Analytics%20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FreshMart%20Analytics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FreshMart%20Analytics%20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FreshMart%20Analytics%20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FreshMart%20Analytics%20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[FreshMart Analytics Dashboard.xlsx]Pivot table!PivotTable4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Member Revenue Analysis by City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table'!$B$4:$B$5</c:f>
              <c:strCache>
                <c:ptCount val="1"/>
                <c:pt idx="0">
                  <c:v>Austin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table'!$A$6:$A$8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'Pivot table'!$B$6:$B$8</c:f>
              <c:numCache>
                <c:formatCode>General</c:formatCode>
                <c:ptCount val="2"/>
                <c:pt idx="0">
                  <c:v>3527</c:v>
                </c:pt>
                <c:pt idx="1">
                  <c:v>3432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38-418B-9F7C-EA8FB32CEFA6}"/>
            </c:ext>
          </c:extLst>
        </c:ser>
        <c:ser>
          <c:idx val="1"/>
          <c:order val="1"/>
          <c:tx>
            <c:strRef>
              <c:f>'Pivot table'!$C$4:$C$5</c:f>
              <c:strCache>
                <c:ptCount val="1"/>
                <c:pt idx="0">
                  <c:v>Chicago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table'!$A$6:$A$8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'Pivot table'!$C$6:$C$8</c:f>
              <c:numCache>
                <c:formatCode>General</c:formatCode>
                <c:ptCount val="2"/>
                <c:pt idx="0">
                  <c:v>3629</c:v>
                </c:pt>
                <c:pt idx="1">
                  <c:v>3470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38-418B-9F7C-EA8FB32CEFA6}"/>
            </c:ext>
          </c:extLst>
        </c:ser>
        <c:ser>
          <c:idx val="2"/>
          <c:order val="2"/>
          <c:tx>
            <c:strRef>
              <c:f>'Pivot table'!$D$4:$D$5</c:f>
              <c:strCache>
                <c:ptCount val="1"/>
                <c:pt idx="0">
                  <c:v>New York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table'!$A$6:$A$8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'Pivot table'!$D$6:$D$8</c:f>
              <c:numCache>
                <c:formatCode>General</c:formatCode>
                <c:ptCount val="2"/>
                <c:pt idx="0">
                  <c:v>3454</c:v>
                </c:pt>
                <c:pt idx="1">
                  <c:v>3488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38-418B-9F7C-EA8FB32CEF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138537919"/>
        <c:axId val="138550399"/>
      </c:barChart>
      <c:catAx>
        <c:axId val="1385379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550399"/>
        <c:crosses val="autoZero"/>
        <c:auto val="1"/>
        <c:lblAlgn val="ctr"/>
        <c:lblOffset val="100"/>
        <c:noMultiLvlLbl val="0"/>
      </c:catAx>
      <c:valAx>
        <c:axId val="138550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537919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[FreshMart Analytics Dashboard.xlsx]Pivot table!PivotTable5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Product Preferences and Demographics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table'!$B$12:$B$13</c:f>
              <c:strCache>
                <c:ptCount val="1"/>
                <c:pt idx="0">
                  <c:v>Female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table'!$A$14:$A$20</c:f>
              <c:strCache>
                <c:ptCount val="6"/>
                <c:pt idx="0">
                  <c:v>Electronic Accessories</c:v>
                </c:pt>
                <c:pt idx="1">
                  <c:v>Food &amp; Beverages</c:v>
                </c:pt>
                <c:pt idx="2">
                  <c:v>Health &amp; Beauty</c:v>
                </c:pt>
                <c:pt idx="3">
                  <c:v>Sports &amp; Travel</c:v>
                </c:pt>
                <c:pt idx="4">
                  <c:v>Home &amp; Lifestyle</c:v>
                </c:pt>
                <c:pt idx="5">
                  <c:v>Fashion Accessories</c:v>
                </c:pt>
              </c:strCache>
            </c:strRef>
          </c:cat>
          <c:val>
            <c:numRef>
              <c:f>'Pivot table'!$B$14:$B$20</c:f>
              <c:numCache>
                <c:formatCode>General</c:formatCode>
                <c:ptCount val="6"/>
                <c:pt idx="0">
                  <c:v>1730</c:v>
                </c:pt>
                <c:pt idx="1">
                  <c:v>1721</c:v>
                </c:pt>
                <c:pt idx="2">
                  <c:v>1743</c:v>
                </c:pt>
                <c:pt idx="3">
                  <c:v>1763</c:v>
                </c:pt>
                <c:pt idx="4">
                  <c:v>1809</c:v>
                </c:pt>
                <c:pt idx="5">
                  <c:v>1735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F8-4EEA-ACB7-3A940FC1A740}"/>
            </c:ext>
          </c:extLst>
        </c:ser>
        <c:ser>
          <c:idx val="1"/>
          <c:order val="1"/>
          <c:tx>
            <c:strRef>
              <c:f>'Pivot table'!$C$12:$C$13</c:f>
              <c:strCache>
                <c:ptCount val="1"/>
                <c:pt idx="0">
                  <c:v>Male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table'!$A$14:$A$20</c:f>
              <c:strCache>
                <c:ptCount val="6"/>
                <c:pt idx="0">
                  <c:v>Electronic Accessories</c:v>
                </c:pt>
                <c:pt idx="1">
                  <c:v>Food &amp; Beverages</c:v>
                </c:pt>
                <c:pt idx="2">
                  <c:v>Health &amp; Beauty</c:v>
                </c:pt>
                <c:pt idx="3">
                  <c:v>Sports &amp; Travel</c:v>
                </c:pt>
                <c:pt idx="4">
                  <c:v>Home &amp; Lifestyle</c:v>
                </c:pt>
                <c:pt idx="5">
                  <c:v>Fashion Accessories</c:v>
                </c:pt>
              </c:strCache>
            </c:strRef>
          </c:cat>
          <c:val>
            <c:numRef>
              <c:f>'Pivot table'!$C$14:$C$20</c:f>
              <c:numCache>
                <c:formatCode>General</c:formatCode>
                <c:ptCount val="6"/>
                <c:pt idx="0">
                  <c:v>1816</c:v>
                </c:pt>
                <c:pt idx="1">
                  <c:v>1789</c:v>
                </c:pt>
                <c:pt idx="2">
                  <c:v>1741</c:v>
                </c:pt>
                <c:pt idx="3">
                  <c:v>1740</c:v>
                </c:pt>
                <c:pt idx="4">
                  <c:v>1718</c:v>
                </c:pt>
                <c:pt idx="5">
                  <c:v>1695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F8-4EEA-ACB7-3A940FC1A7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38536479"/>
        <c:axId val="138542719"/>
      </c:barChart>
      <c:catAx>
        <c:axId val="138536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542719"/>
        <c:crosses val="autoZero"/>
        <c:auto val="1"/>
        <c:lblAlgn val="ctr"/>
        <c:lblOffset val="100"/>
        <c:noMultiLvlLbl val="0"/>
      </c:catAx>
      <c:valAx>
        <c:axId val="1385427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536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[FreshMart Analytics Dashboard.xlsx]Pivot table!PivotTable10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Premium Customer Experience</a:t>
            </a:r>
          </a:p>
          <a:p>
            <a:pPr>
              <a:defRPr/>
            </a:pPr>
            <a:endParaRPr lang="en-US"/>
          </a:p>
        </c:rich>
      </c:tx>
      <c:layout>
        <c:manualLayout>
          <c:xMode val="edge"/>
          <c:yMode val="edge"/>
          <c:x val="0.37157560117166216"/>
          <c:y val="6.545607854179662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8164996018607726E-2"/>
          <c:y val="9.8162127319116596E-2"/>
          <c:w val="0.86631818605386401"/>
          <c:h val="0.749344794961840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table'!$B$33:$B$34</c:f>
              <c:strCache>
                <c:ptCount val="1"/>
                <c:pt idx="0">
                  <c:v>10.0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table'!$A$35:$A$41</c:f>
              <c:strCache>
                <c:ptCount val="6"/>
                <c:pt idx="0">
                  <c:v>20,001–50,000</c:v>
                </c:pt>
                <c:pt idx="1">
                  <c:v>50,001–100,000</c:v>
                </c:pt>
                <c:pt idx="2">
                  <c:v>10,001–20,000</c:v>
                </c:pt>
                <c:pt idx="3">
                  <c:v>5,001–10,000</c:v>
                </c:pt>
                <c:pt idx="4">
                  <c:v>0–5,000</c:v>
                </c:pt>
                <c:pt idx="5">
                  <c:v>100,001–110,000</c:v>
                </c:pt>
              </c:strCache>
            </c:strRef>
          </c:cat>
          <c:val>
            <c:numRef>
              <c:f>'Pivot table'!$B$35:$B$41</c:f>
              <c:numCache>
                <c:formatCode>General</c:formatCode>
                <c:ptCount val="6"/>
                <c:pt idx="0">
                  <c:v>65</c:v>
                </c:pt>
                <c:pt idx="1">
                  <c:v>42</c:v>
                </c:pt>
                <c:pt idx="2">
                  <c:v>32</c:v>
                </c:pt>
                <c:pt idx="3">
                  <c:v>23</c:v>
                </c:pt>
                <c:pt idx="4">
                  <c:v>13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2C-4929-9B2C-7D98178F1C33}"/>
            </c:ext>
          </c:extLst>
        </c:ser>
        <c:ser>
          <c:idx val="1"/>
          <c:order val="1"/>
          <c:tx>
            <c:strRef>
              <c:f>'Pivot table'!$C$33:$C$34</c:f>
              <c:strCache>
                <c:ptCount val="1"/>
                <c:pt idx="0">
                  <c:v>4.0 – 4.9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table'!$A$35:$A$41</c:f>
              <c:strCache>
                <c:ptCount val="6"/>
                <c:pt idx="0">
                  <c:v>20,001–50,000</c:v>
                </c:pt>
                <c:pt idx="1">
                  <c:v>50,001–100,000</c:v>
                </c:pt>
                <c:pt idx="2">
                  <c:v>10,001–20,000</c:v>
                </c:pt>
                <c:pt idx="3">
                  <c:v>5,001–10,000</c:v>
                </c:pt>
                <c:pt idx="4">
                  <c:v>0–5,000</c:v>
                </c:pt>
                <c:pt idx="5">
                  <c:v>100,001–110,000</c:v>
                </c:pt>
              </c:strCache>
            </c:strRef>
          </c:cat>
          <c:val>
            <c:numRef>
              <c:f>'Pivot table'!$C$35:$C$41</c:f>
              <c:numCache>
                <c:formatCode>General</c:formatCode>
                <c:ptCount val="6"/>
                <c:pt idx="0">
                  <c:v>1223</c:v>
                </c:pt>
                <c:pt idx="1">
                  <c:v>717</c:v>
                </c:pt>
                <c:pt idx="2">
                  <c:v>684</c:v>
                </c:pt>
                <c:pt idx="3">
                  <c:v>428</c:v>
                </c:pt>
                <c:pt idx="4">
                  <c:v>238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2C-4929-9B2C-7D98178F1C33}"/>
            </c:ext>
          </c:extLst>
        </c:ser>
        <c:ser>
          <c:idx val="2"/>
          <c:order val="2"/>
          <c:tx>
            <c:strRef>
              <c:f>'Pivot table'!$D$33:$D$34</c:f>
              <c:strCache>
                <c:ptCount val="1"/>
                <c:pt idx="0">
                  <c:v>5.0 – 5.9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table'!$A$35:$A$41</c:f>
              <c:strCache>
                <c:ptCount val="6"/>
                <c:pt idx="0">
                  <c:v>20,001–50,000</c:v>
                </c:pt>
                <c:pt idx="1">
                  <c:v>50,001–100,000</c:v>
                </c:pt>
                <c:pt idx="2">
                  <c:v>10,001–20,000</c:v>
                </c:pt>
                <c:pt idx="3">
                  <c:v>5,001–10,000</c:v>
                </c:pt>
                <c:pt idx="4">
                  <c:v>0–5,000</c:v>
                </c:pt>
                <c:pt idx="5">
                  <c:v>100,001–110,000</c:v>
                </c:pt>
              </c:strCache>
            </c:strRef>
          </c:cat>
          <c:val>
            <c:numRef>
              <c:f>'Pivot table'!$D$35:$D$41</c:f>
              <c:numCache>
                <c:formatCode>General</c:formatCode>
                <c:ptCount val="6"/>
                <c:pt idx="0">
                  <c:v>1297</c:v>
                </c:pt>
                <c:pt idx="1">
                  <c:v>698</c:v>
                </c:pt>
                <c:pt idx="2">
                  <c:v>756</c:v>
                </c:pt>
                <c:pt idx="3">
                  <c:v>468</c:v>
                </c:pt>
                <c:pt idx="4">
                  <c:v>217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2C-4929-9B2C-7D98178F1C33}"/>
            </c:ext>
          </c:extLst>
        </c:ser>
        <c:ser>
          <c:idx val="3"/>
          <c:order val="3"/>
          <c:tx>
            <c:strRef>
              <c:f>'Pivot table'!$E$33:$E$34</c:f>
              <c:strCache>
                <c:ptCount val="1"/>
                <c:pt idx="0">
                  <c:v>6.0 – 6.9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table'!$A$35:$A$41</c:f>
              <c:strCache>
                <c:ptCount val="6"/>
                <c:pt idx="0">
                  <c:v>20,001–50,000</c:v>
                </c:pt>
                <c:pt idx="1">
                  <c:v>50,001–100,000</c:v>
                </c:pt>
                <c:pt idx="2">
                  <c:v>10,001–20,000</c:v>
                </c:pt>
                <c:pt idx="3">
                  <c:v>5,001–10,000</c:v>
                </c:pt>
                <c:pt idx="4">
                  <c:v>0–5,000</c:v>
                </c:pt>
                <c:pt idx="5">
                  <c:v>100,001–110,000</c:v>
                </c:pt>
              </c:strCache>
            </c:strRef>
          </c:cat>
          <c:val>
            <c:numRef>
              <c:f>'Pivot table'!$E$35:$E$41</c:f>
              <c:numCache>
                <c:formatCode>General</c:formatCode>
                <c:ptCount val="6"/>
                <c:pt idx="0">
                  <c:v>1355</c:v>
                </c:pt>
                <c:pt idx="1">
                  <c:v>750</c:v>
                </c:pt>
                <c:pt idx="2">
                  <c:v>699</c:v>
                </c:pt>
                <c:pt idx="3">
                  <c:v>507</c:v>
                </c:pt>
                <c:pt idx="4">
                  <c:v>235</c:v>
                </c:pt>
                <c:pt idx="5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2C-4929-9B2C-7D98178F1C33}"/>
            </c:ext>
          </c:extLst>
        </c:ser>
        <c:ser>
          <c:idx val="4"/>
          <c:order val="4"/>
          <c:tx>
            <c:strRef>
              <c:f>'Pivot table'!$F$33:$F$34</c:f>
              <c:strCache>
                <c:ptCount val="1"/>
                <c:pt idx="0">
                  <c:v>7.0 – 7.9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51000"/>
                    <a:satMod val="130000"/>
                  </a:schemeClr>
                </a:gs>
                <a:gs pos="80000">
                  <a:schemeClr val="accent5">
                    <a:shade val="93000"/>
                    <a:satMod val="130000"/>
                  </a:schemeClr>
                </a:gs>
                <a:gs pos="100000">
                  <a:schemeClr val="accent5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table'!$A$35:$A$41</c:f>
              <c:strCache>
                <c:ptCount val="6"/>
                <c:pt idx="0">
                  <c:v>20,001–50,000</c:v>
                </c:pt>
                <c:pt idx="1">
                  <c:v>50,001–100,000</c:v>
                </c:pt>
                <c:pt idx="2">
                  <c:v>10,001–20,000</c:v>
                </c:pt>
                <c:pt idx="3">
                  <c:v>5,001–10,000</c:v>
                </c:pt>
                <c:pt idx="4">
                  <c:v>0–5,000</c:v>
                </c:pt>
                <c:pt idx="5">
                  <c:v>100,001–110,000</c:v>
                </c:pt>
              </c:strCache>
            </c:strRef>
          </c:cat>
          <c:val>
            <c:numRef>
              <c:f>'Pivot table'!$F$35:$F$41</c:f>
              <c:numCache>
                <c:formatCode>General</c:formatCode>
                <c:ptCount val="6"/>
                <c:pt idx="0">
                  <c:v>1338</c:v>
                </c:pt>
                <c:pt idx="1">
                  <c:v>742</c:v>
                </c:pt>
                <c:pt idx="2">
                  <c:v>724</c:v>
                </c:pt>
                <c:pt idx="3">
                  <c:v>505</c:v>
                </c:pt>
                <c:pt idx="4">
                  <c:v>252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2C-4929-9B2C-7D98178F1C33}"/>
            </c:ext>
          </c:extLst>
        </c:ser>
        <c:ser>
          <c:idx val="5"/>
          <c:order val="5"/>
          <c:tx>
            <c:strRef>
              <c:f>'Pivot table'!$G$33:$G$34</c:f>
              <c:strCache>
                <c:ptCount val="1"/>
                <c:pt idx="0">
                  <c:v>8.0 – 8.9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table'!$A$35:$A$41</c:f>
              <c:strCache>
                <c:ptCount val="6"/>
                <c:pt idx="0">
                  <c:v>20,001–50,000</c:v>
                </c:pt>
                <c:pt idx="1">
                  <c:v>50,001–100,000</c:v>
                </c:pt>
                <c:pt idx="2">
                  <c:v>10,001–20,000</c:v>
                </c:pt>
                <c:pt idx="3">
                  <c:v>5,001–10,000</c:v>
                </c:pt>
                <c:pt idx="4">
                  <c:v>0–5,000</c:v>
                </c:pt>
                <c:pt idx="5">
                  <c:v>100,001–110,000</c:v>
                </c:pt>
              </c:strCache>
            </c:strRef>
          </c:cat>
          <c:val>
            <c:numRef>
              <c:f>'Pivot table'!$G$35:$G$41</c:f>
              <c:numCache>
                <c:formatCode>General</c:formatCode>
                <c:ptCount val="6"/>
                <c:pt idx="0">
                  <c:v>1291</c:v>
                </c:pt>
                <c:pt idx="1">
                  <c:v>801</c:v>
                </c:pt>
                <c:pt idx="2">
                  <c:v>668</c:v>
                </c:pt>
                <c:pt idx="3">
                  <c:v>464</c:v>
                </c:pt>
                <c:pt idx="4">
                  <c:v>234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62C-4929-9B2C-7D98178F1C33}"/>
            </c:ext>
          </c:extLst>
        </c:ser>
        <c:ser>
          <c:idx val="6"/>
          <c:order val="6"/>
          <c:tx>
            <c:strRef>
              <c:f>'Pivot table'!$H$33:$H$34</c:f>
              <c:strCache>
                <c:ptCount val="1"/>
                <c:pt idx="0">
                  <c:v>9.0 – 9.9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hade val="51000"/>
                    <a:satMod val="130000"/>
                  </a:schemeClr>
                </a:gs>
                <a:gs pos="80000">
                  <a:schemeClr val="accent1">
                    <a:lumMod val="60000"/>
                    <a:shade val="93000"/>
                    <a:satMod val="130000"/>
                  </a:schemeClr>
                </a:gs>
                <a:gs pos="100000">
                  <a:schemeClr val="accent1">
                    <a:lumMod val="60000"/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table'!$A$35:$A$41</c:f>
              <c:strCache>
                <c:ptCount val="6"/>
                <c:pt idx="0">
                  <c:v>20,001–50,000</c:v>
                </c:pt>
                <c:pt idx="1">
                  <c:v>50,001–100,000</c:v>
                </c:pt>
                <c:pt idx="2">
                  <c:v>10,001–20,000</c:v>
                </c:pt>
                <c:pt idx="3">
                  <c:v>5,001–10,000</c:v>
                </c:pt>
                <c:pt idx="4">
                  <c:v>0–5,000</c:v>
                </c:pt>
                <c:pt idx="5">
                  <c:v>100,001–110,000</c:v>
                </c:pt>
              </c:strCache>
            </c:strRef>
          </c:cat>
          <c:val>
            <c:numRef>
              <c:f>'Pivot table'!$H$35:$H$41</c:f>
              <c:numCache>
                <c:formatCode>General</c:formatCode>
                <c:ptCount val="6"/>
                <c:pt idx="0">
                  <c:v>1278</c:v>
                </c:pt>
                <c:pt idx="1">
                  <c:v>736</c:v>
                </c:pt>
                <c:pt idx="2">
                  <c:v>722</c:v>
                </c:pt>
                <c:pt idx="3">
                  <c:v>468</c:v>
                </c:pt>
                <c:pt idx="4">
                  <c:v>226</c:v>
                </c:pt>
                <c:pt idx="5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62C-4929-9B2C-7D98178F1C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32418271"/>
        <c:axId val="1807815343"/>
      </c:barChart>
      <c:catAx>
        <c:axId val="1324182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TOTAL RANGE</a:t>
                </a:r>
              </a:p>
              <a:p>
                <a:pPr>
                  <a:defRPr b="1"/>
                </a:pPr>
                <a:endParaRPr 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7815343"/>
        <c:crosses val="autoZero"/>
        <c:auto val="1"/>
        <c:lblAlgn val="ctr"/>
        <c:lblOffset val="100"/>
        <c:noMultiLvlLbl val="0"/>
      </c:catAx>
      <c:valAx>
        <c:axId val="1807815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layout>
            <c:manualLayout>
              <c:xMode val="edge"/>
              <c:yMode val="edge"/>
              <c:x val="0"/>
              <c:y val="0.4302553457085981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418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[FreshMart Analytics Dashboard.xlsx]Pivot table!PivotTable7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cap="none" spc="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000" b="1">
                <a:solidFill>
                  <a:schemeClr val="tx1"/>
                </a:solidFill>
              </a:rPr>
              <a:t>Staff Scheduling by City</a:t>
            </a:r>
          </a:p>
          <a:p>
            <a:pPr>
              <a:defRPr sz="2000" b="1">
                <a:solidFill>
                  <a:schemeClr val="tx1"/>
                </a:solidFill>
              </a:defRPr>
            </a:pPr>
            <a:endParaRPr lang="en-US" sz="2000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cap="none" spc="2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1744831644385003E-2"/>
          <c:y val="0.14139412058638964"/>
          <c:w val="0.78056059911886622"/>
          <c:h val="0.770494874296550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table'!$I$4:$I$5</c:f>
              <c:strCache>
                <c:ptCount val="1"/>
                <c:pt idx="0">
                  <c:v>Austin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'Pivot table'!$H$6:$H$18</c:f>
              <c:strCache>
                <c:ptCount val="12"/>
                <c:pt idx="0">
                  <c:v>20</c:v>
                </c:pt>
                <c:pt idx="1">
                  <c:v>17</c:v>
                </c:pt>
                <c:pt idx="2">
                  <c:v>14</c:v>
                </c:pt>
                <c:pt idx="3">
                  <c:v>19</c:v>
                </c:pt>
                <c:pt idx="4">
                  <c:v>11</c:v>
                </c:pt>
                <c:pt idx="5">
                  <c:v>16</c:v>
                </c:pt>
                <c:pt idx="6">
                  <c:v>13</c:v>
                </c:pt>
                <c:pt idx="7">
                  <c:v>18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15</c:v>
                </c:pt>
              </c:strCache>
            </c:strRef>
          </c:cat>
          <c:val>
            <c:numRef>
              <c:f>'Pivot table'!$I$6:$I$18</c:f>
              <c:numCache>
                <c:formatCode>General</c:formatCode>
                <c:ptCount val="12"/>
                <c:pt idx="0">
                  <c:v>579</c:v>
                </c:pt>
                <c:pt idx="1">
                  <c:v>629</c:v>
                </c:pt>
                <c:pt idx="2">
                  <c:v>592</c:v>
                </c:pt>
                <c:pt idx="3">
                  <c:v>609</c:v>
                </c:pt>
                <c:pt idx="4">
                  <c:v>549</c:v>
                </c:pt>
                <c:pt idx="5">
                  <c:v>554</c:v>
                </c:pt>
                <c:pt idx="6">
                  <c:v>592</c:v>
                </c:pt>
                <c:pt idx="7">
                  <c:v>584</c:v>
                </c:pt>
                <c:pt idx="8">
                  <c:v>560</c:v>
                </c:pt>
                <c:pt idx="9">
                  <c:v>584</c:v>
                </c:pt>
                <c:pt idx="10">
                  <c:v>580</c:v>
                </c:pt>
                <c:pt idx="11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5A-4EE5-B36F-A1238C6A806E}"/>
            </c:ext>
          </c:extLst>
        </c:ser>
        <c:ser>
          <c:idx val="1"/>
          <c:order val="1"/>
          <c:tx>
            <c:strRef>
              <c:f>'Pivot table'!$J$4:$J$5</c:f>
              <c:strCache>
                <c:ptCount val="1"/>
                <c:pt idx="0">
                  <c:v>Chicago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50000"/>
                    <a:satMod val="300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'Pivot table'!$H$6:$H$18</c:f>
              <c:strCache>
                <c:ptCount val="12"/>
                <c:pt idx="0">
                  <c:v>20</c:v>
                </c:pt>
                <c:pt idx="1">
                  <c:v>17</c:v>
                </c:pt>
                <c:pt idx="2">
                  <c:v>14</c:v>
                </c:pt>
                <c:pt idx="3">
                  <c:v>19</c:v>
                </c:pt>
                <c:pt idx="4">
                  <c:v>11</c:v>
                </c:pt>
                <c:pt idx="5">
                  <c:v>16</c:v>
                </c:pt>
                <c:pt idx="6">
                  <c:v>13</c:v>
                </c:pt>
                <c:pt idx="7">
                  <c:v>18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15</c:v>
                </c:pt>
              </c:strCache>
            </c:strRef>
          </c:cat>
          <c:val>
            <c:numRef>
              <c:f>'Pivot table'!$J$6:$J$18</c:f>
              <c:numCache>
                <c:formatCode>General</c:formatCode>
                <c:ptCount val="12"/>
                <c:pt idx="0">
                  <c:v>582</c:v>
                </c:pt>
                <c:pt idx="1">
                  <c:v>551</c:v>
                </c:pt>
                <c:pt idx="2">
                  <c:v>580</c:v>
                </c:pt>
                <c:pt idx="3">
                  <c:v>635</c:v>
                </c:pt>
                <c:pt idx="4">
                  <c:v>584</c:v>
                </c:pt>
                <c:pt idx="5">
                  <c:v>623</c:v>
                </c:pt>
                <c:pt idx="6">
                  <c:v>581</c:v>
                </c:pt>
                <c:pt idx="7">
                  <c:v>544</c:v>
                </c:pt>
                <c:pt idx="8">
                  <c:v>637</c:v>
                </c:pt>
                <c:pt idx="9">
                  <c:v>600</c:v>
                </c:pt>
                <c:pt idx="10">
                  <c:v>570</c:v>
                </c:pt>
                <c:pt idx="11">
                  <c:v>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5A-4EE5-B36F-A1238C6A806E}"/>
            </c:ext>
          </c:extLst>
        </c:ser>
        <c:ser>
          <c:idx val="2"/>
          <c:order val="2"/>
          <c:tx>
            <c:strRef>
              <c:f>'Pivot table'!$K$4:$K$5</c:f>
              <c:strCache>
                <c:ptCount val="1"/>
                <c:pt idx="0">
                  <c:v>New York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50000"/>
                    <a:satMod val="300000"/>
                  </a:schemeClr>
                </a:gs>
                <a:gs pos="35000">
                  <a:schemeClr val="accent3">
                    <a:tint val="37000"/>
                    <a:satMod val="300000"/>
                  </a:schemeClr>
                </a:gs>
                <a:gs pos="100000">
                  <a:schemeClr val="accent3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'Pivot table'!$H$6:$H$18</c:f>
              <c:strCache>
                <c:ptCount val="12"/>
                <c:pt idx="0">
                  <c:v>20</c:v>
                </c:pt>
                <c:pt idx="1">
                  <c:v>17</c:v>
                </c:pt>
                <c:pt idx="2">
                  <c:v>14</c:v>
                </c:pt>
                <c:pt idx="3">
                  <c:v>19</c:v>
                </c:pt>
                <c:pt idx="4">
                  <c:v>11</c:v>
                </c:pt>
                <c:pt idx="5">
                  <c:v>16</c:v>
                </c:pt>
                <c:pt idx="6">
                  <c:v>13</c:v>
                </c:pt>
                <c:pt idx="7">
                  <c:v>18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15</c:v>
                </c:pt>
              </c:strCache>
            </c:strRef>
          </c:cat>
          <c:val>
            <c:numRef>
              <c:f>'Pivot table'!$K$6:$K$18</c:f>
              <c:numCache>
                <c:formatCode>General</c:formatCode>
                <c:ptCount val="12"/>
                <c:pt idx="0">
                  <c:v>624</c:v>
                </c:pt>
                <c:pt idx="1">
                  <c:v>614</c:v>
                </c:pt>
                <c:pt idx="2">
                  <c:v>591</c:v>
                </c:pt>
                <c:pt idx="3">
                  <c:v>588</c:v>
                </c:pt>
                <c:pt idx="4">
                  <c:v>578</c:v>
                </c:pt>
                <c:pt idx="5">
                  <c:v>576</c:v>
                </c:pt>
                <c:pt idx="6">
                  <c:v>575</c:v>
                </c:pt>
                <c:pt idx="7">
                  <c:v>575</c:v>
                </c:pt>
                <c:pt idx="8">
                  <c:v>569</c:v>
                </c:pt>
                <c:pt idx="9">
                  <c:v>552</c:v>
                </c:pt>
                <c:pt idx="10">
                  <c:v>551</c:v>
                </c:pt>
                <c:pt idx="11">
                  <c:v>549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5A-4EE5-B36F-A1238C6A80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38378927"/>
        <c:axId val="438378447"/>
      </c:barChart>
      <c:catAx>
        <c:axId val="438378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8378447"/>
        <c:crosses val="autoZero"/>
        <c:auto val="1"/>
        <c:lblAlgn val="ctr"/>
        <c:lblOffset val="100"/>
        <c:noMultiLvlLbl val="0"/>
      </c:catAx>
      <c:valAx>
        <c:axId val="4383784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8378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[FreshMart Analytics Dashboard.xlsx]Pivot table!PivotTable11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400" b="0" i="1">
                <a:solidFill>
                  <a:schemeClr val="tx1"/>
                </a:solidFill>
              </a:rPr>
              <a:t>Member</a:t>
            </a:r>
            <a:r>
              <a:rPr lang="en-US" sz="2400" b="0" i="1" baseline="0">
                <a:solidFill>
                  <a:schemeClr val="tx1"/>
                </a:solidFill>
              </a:rPr>
              <a:t> vs Normal Customer Analysis</a:t>
            </a:r>
            <a:endParaRPr lang="en-US" sz="2400" b="0" i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235515179586508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531820898625295"/>
          <c:y val="0.20337268128161887"/>
          <c:w val="0.56105449971669485"/>
          <c:h val="0.666226713229143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table'!$L$33</c:f>
              <c:strCache>
                <c:ptCount val="1"/>
                <c:pt idx="0">
                  <c:v>Count of Invoice 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table'!$K$34:$K$36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'Pivot table'!$L$34:$L$36</c:f>
              <c:numCache>
                <c:formatCode>General</c:formatCode>
                <c:ptCount val="2"/>
                <c:pt idx="0">
                  <c:v>10610</c:v>
                </c:pt>
                <c:pt idx="1">
                  <c:v>10390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4A-4CCB-9C4D-F97E5AC94F5F}"/>
            </c:ext>
          </c:extLst>
        </c:ser>
        <c:ser>
          <c:idx val="1"/>
          <c:order val="1"/>
          <c:tx>
            <c:strRef>
              <c:f>'Pivot table'!$M$33</c:f>
              <c:strCache>
                <c:ptCount val="1"/>
                <c:pt idx="0">
                  <c:v>Average of 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A78-4CF5-973C-0D26164B2326}"/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A78-4CF5-973C-0D26164B232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table'!$K$34:$K$36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'Pivot table'!$M$34:$M$36</c:f>
              <c:numCache>
                <c:formatCode>General</c:formatCode>
                <c:ptCount val="2"/>
                <c:pt idx="0">
                  <c:v>31601.124800188412</c:v>
                </c:pt>
                <c:pt idx="1">
                  <c:v>31905.209927815285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4A-4CCB-9C4D-F97E5AC94F5F}"/>
            </c:ext>
          </c:extLst>
        </c:ser>
        <c:ser>
          <c:idx val="2"/>
          <c:order val="2"/>
          <c:tx>
            <c:strRef>
              <c:f>'Pivot table'!$N$33</c:f>
              <c:strCache>
                <c:ptCount val="1"/>
                <c:pt idx="0">
                  <c:v>Average of Quantity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table'!$K$34:$K$36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'Pivot table'!$N$34:$N$36</c:f>
              <c:numCache>
                <c:formatCode>General</c:formatCode>
                <c:ptCount val="2"/>
                <c:pt idx="0">
                  <c:v>5.4810556079170594</c:v>
                </c:pt>
                <c:pt idx="1">
                  <c:v>5.5232916265640037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4A-4CCB-9C4D-F97E5AC94F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7"/>
        <c:axId val="1624707743"/>
        <c:axId val="1624705823"/>
      </c:barChart>
      <c:catAx>
        <c:axId val="1624707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Narrow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624705823"/>
        <c:crosses val="autoZero"/>
        <c:auto val="1"/>
        <c:lblAlgn val="ctr"/>
        <c:lblOffset val="100"/>
        <c:noMultiLvlLbl val="0"/>
      </c:catAx>
      <c:valAx>
        <c:axId val="1624705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4707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/>
              </a:solidFill>
              <a:latin typeface="Aptos Narrow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55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617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05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1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92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67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7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40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55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199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393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1504D-98E5-4D68-9433-FBBE78D9148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8FF7689-F3E0-4C21-9C1A-2723C45C9C2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78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eedbrothersdodgehistory.wordpress.com/2014/12/20/seasons-greetings-and-happy-holidays-2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0D913B-6342-7FDC-600F-EFCA06146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6053" y="802298"/>
            <a:ext cx="8783600" cy="270781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FreshMart</a:t>
            </a:r>
            <a:r>
              <a:rPr lang="en-US" dirty="0"/>
              <a:t> Analytics Dashboard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3DFC8B1-1442-5B14-A7CF-E89A80B75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4333" y="3869708"/>
            <a:ext cx="6357667" cy="2185994"/>
          </a:xfrm>
        </p:spPr>
        <p:txBody>
          <a:bodyPr>
            <a:normAutofit/>
          </a:bodyPr>
          <a:lstStyle/>
          <a:p>
            <a:r>
              <a:rPr lang="en-US" sz="3200" b="1" i="1" dirty="0"/>
              <a:t>Prepared By:</a:t>
            </a:r>
            <a:br>
              <a:rPr lang="en-US" sz="3200" b="1" i="1" dirty="0"/>
            </a:br>
            <a:r>
              <a:rPr lang="en-US" sz="3200" b="1" i="1" dirty="0"/>
              <a:t>Babra Odongo</a:t>
            </a:r>
          </a:p>
          <a:p>
            <a:r>
              <a:rPr lang="en-US" sz="3200" b="1" i="1" dirty="0"/>
              <a:t>Data Analyst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6678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E6B7-170F-847A-470D-F4E10579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Problem Summary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B839C-67DE-A1DF-0D95-57033E844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12192000" cy="4199727"/>
          </a:xfrm>
        </p:spPr>
        <p:txBody>
          <a:bodyPr>
            <a:normAutofit lnSpcReduction="10000"/>
          </a:bodyPr>
          <a:lstStyle/>
          <a:p>
            <a:r>
              <a:rPr lang="en-US" sz="2600" dirty="0">
                <a:latin typeface="Aptos Narrow" panose="020B0004020202020204" pitchFamily="34" charset="0"/>
              </a:rPr>
              <a:t>The "Member" loyalty program may not be delivering value, as members might not spend more than regular customers despite operational costs.</a:t>
            </a:r>
          </a:p>
          <a:p>
            <a:r>
              <a:rPr lang="en-US" sz="2600" dirty="0">
                <a:latin typeface="Aptos Narrow" panose="020B0004020202020204" pitchFamily="34" charset="0"/>
              </a:rPr>
              <a:t>Marketing budgets could be wasted on ads targeting demographics that do not actually purchase specific product categories.</a:t>
            </a:r>
          </a:p>
          <a:p>
            <a:r>
              <a:rPr lang="en-US" sz="2600" dirty="0">
                <a:latin typeface="Aptos Narrow" panose="020B0004020202020204" pitchFamily="34" charset="0"/>
              </a:rPr>
              <a:t>High-spending customers may be less satisfied than expected, suggesting our premium positioning is failing to meet their expectations.</a:t>
            </a:r>
          </a:p>
          <a:p>
            <a:r>
              <a:rPr lang="en-US" sz="2600" dirty="0">
                <a:latin typeface="Aptos Narrow" panose="020B0004020202020204" pitchFamily="34" charset="0"/>
              </a:rPr>
              <a:t>Staff scheduling may be misaligned with actual customer traffic, leading to high overtime costs and long wait times.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528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1CEF4-3B41-6958-A13E-F8D3A074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Objective of the Analysis</a:t>
            </a:r>
            <a:r>
              <a:rPr lang="en-US" sz="36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3A054-12F7-7942-1669-DF5BAE617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53754"/>
            <a:ext cx="12001500" cy="419972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ptos Narrow" panose="020B0004020202020204" pitchFamily="34" charset="0"/>
              </a:rPr>
              <a:t>Identify the busiest times in each location and make sure staff are scheduled appropriately to reduce overtime costs and shorten customer wait times.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Analyze whether members spend more or provide additional benefits compared to regular customers to decide if the program is worth continuing.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Study who buys each product category so that marketing efforts are focused on the right audience and the budget is used effectively.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Examine whether high-spending customers are satisfied and take steps to improve their experience to maintain their loyalty.</a:t>
            </a:r>
          </a:p>
          <a:p>
            <a:endParaRPr lang="en-US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36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B818-7B96-8037-6227-4F4810500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Dataset Overview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16F4-BCBB-2909-39C4-D431C68F5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36955"/>
            <a:ext cx="12192000" cy="4218039"/>
          </a:xfrm>
        </p:spPr>
        <p:txBody>
          <a:bodyPr/>
          <a:lstStyle/>
          <a:p>
            <a:r>
              <a:rPr lang="en-US" sz="2400" b="1" dirty="0">
                <a:latin typeface="Aptos Narrow" panose="020B0004020202020204" pitchFamily="34" charset="0"/>
              </a:rPr>
              <a:t>The primary analysis </a:t>
            </a:r>
            <a:r>
              <a:rPr lang="en-US" sz="2400" dirty="0">
                <a:latin typeface="Aptos Narrow" panose="020B0004020202020204" pitchFamily="34" charset="0"/>
              </a:rPr>
              <a:t>is based on one  main dataset (the Data sheet). It has 15 columns and 20,000 rows.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The key columns in this dataset include Invoice ID, Branch, City, Customer Type, Gender, Payment, Product Line, Unit Price, Quantity, Tax 5%, Total, COGS, Gross Margin %, Date, and Time.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Dataset cleaning involved adding an Hour column, creating a Ratings Range, and creating a Total Range to make the dataset more structured and easier to analyze</a:t>
            </a:r>
          </a:p>
          <a:p>
            <a:endParaRPr lang="en-US" sz="2800" dirty="0">
              <a:latin typeface="Aptos Narrow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937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D568-233C-11F3-857A-B36E1A506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Key Metrics (KPIs) 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0B049-DA33-4C15-BF9E-DF1FC9ED3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7" y="1853754"/>
            <a:ext cx="5840360" cy="361259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ptos Narrow" panose="020B0004020202020204" pitchFamily="34" charset="0"/>
              </a:rPr>
              <a:t>Number of Transactions  </a:t>
            </a:r>
            <a:r>
              <a:rPr lang="en-US" sz="2400" dirty="0">
                <a:latin typeface="Aptos Narrow" panose="020B0004020202020204" pitchFamily="34" charset="0"/>
              </a:rPr>
              <a:t>21,000</a:t>
            </a:r>
          </a:p>
          <a:p>
            <a:r>
              <a:rPr lang="en-US" sz="2400" b="1" dirty="0">
                <a:latin typeface="Aptos Narrow" panose="020B0004020202020204" pitchFamily="34" charset="0"/>
              </a:rPr>
              <a:t>Total Sales  </a:t>
            </a:r>
            <a:r>
              <a:rPr lang="en-US" sz="2400" dirty="0">
                <a:latin typeface="Aptos Narrow" panose="020B0004020202020204" pitchFamily="34" charset="0"/>
              </a:rPr>
              <a:t>666,783,065</a:t>
            </a:r>
          </a:p>
          <a:p>
            <a:r>
              <a:rPr lang="en-US" sz="2400" b="1" dirty="0">
                <a:latin typeface="Aptos Narrow" panose="020B0004020202020204" pitchFamily="34" charset="0"/>
              </a:rPr>
              <a:t>Average Sales   </a:t>
            </a:r>
            <a:r>
              <a:rPr lang="en-US" sz="2400" dirty="0">
                <a:latin typeface="Aptos Narrow" panose="020B0004020202020204" pitchFamily="34" charset="0"/>
              </a:rPr>
              <a:t>31,751</a:t>
            </a:r>
          </a:p>
        </p:txBody>
      </p:sp>
      <p:pic>
        <p:nvPicPr>
          <p:cNvPr id="5" name="Graphic 4" descr="Connections with solid fill">
            <a:extLst>
              <a:ext uri="{FF2B5EF4-FFF2-40B4-BE49-F238E27FC236}">
                <a16:creationId xmlns:a16="http://schemas.microsoft.com/office/drawing/2014/main" id="{9337F3DA-A519-77E0-83DD-0C1DA7D4A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803922" y="1986116"/>
            <a:ext cx="5319249" cy="333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43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2F8E1ED-C213-60D6-3807-E18E0FE602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6359996"/>
              </p:ext>
            </p:extLst>
          </p:nvPr>
        </p:nvGraphicFramePr>
        <p:xfrm>
          <a:off x="737418" y="629265"/>
          <a:ext cx="9478297" cy="4916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8718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9323BC9-302B-2F6C-E384-1729FCE191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0579282"/>
              </p:ext>
            </p:extLst>
          </p:nvPr>
        </p:nvGraphicFramePr>
        <p:xfrm>
          <a:off x="629264" y="491611"/>
          <a:ext cx="10028903" cy="4975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02655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245833F-73E5-C31D-2232-AE2A8F2E46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9405595"/>
              </p:ext>
            </p:extLst>
          </p:nvPr>
        </p:nvGraphicFramePr>
        <p:xfrm>
          <a:off x="1002890" y="432619"/>
          <a:ext cx="10137057" cy="5820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46459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CDF1661-6354-955B-D6AC-3351644C21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7142115"/>
              </p:ext>
            </p:extLst>
          </p:nvPr>
        </p:nvGraphicFramePr>
        <p:xfrm>
          <a:off x="235973" y="747252"/>
          <a:ext cx="11513575" cy="49751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56279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FDE77CB-79AE-8AE1-9810-F326613325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6737530"/>
              </p:ext>
            </p:extLst>
          </p:nvPr>
        </p:nvGraphicFramePr>
        <p:xfrm>
          <a:off x="1602658" y="294968"/>
          <a:ext cx="7610168" cy="52504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16466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924DA-F595-4E1E-69DF-F5EA1A80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Summary of Findings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5EFB8-09C0-CA70-4F23-EBA5FDCF0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12192000" cy="399644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ptos Narrow" panose="020B0004020202020204" pitchFamily="34" charset="0"/>
              </a:rPr>
              <a:t>Membership data reveals that members make more transactions, but normal customers buy higher quantities and have higher average spending per visit.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The analysis shows peak activity hours differ by location, with Austin busiest at hour 17, Chicago at hour 9, and New York at hour 20, matching their branch patterns.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Health &amp; Beauty shows a balanced interest with 1,743 females and 1,741 males, while Electronics has a slight male lead with 1,816 males compared to 1,730 females.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Members generally give slightly higher satisfaction ratings than Normal customers, but ratings for both groups are spread across the scale.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242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E5DEB-A0AB-3477-A842-2F5F81DA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Recommendations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3CF9D-CE4A-9AE7-D55F-9ED9DE7E8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5732"/>
            <a:ext cx="12083845" cy="3450613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Aptos Narrow" panose="020B0004020202020204" pitchFamily="34" charset="0"/>
              </a:rPr>
              <a:t>To fix the staffing mismatch, schedules should match each city’s peak hours, employees should be cross-trained, and rosters should be updated using actual invoice patterns.</a:t>
            </a:r>
          </a:p>
          <a:p>
            <a:r>
              <a:rPr lang="en-US" dirty="0">
                <a:latin typeface="Aptos Narrow" panose="020B0004020202020204" pitchFamily="34" charset="0"/>
              </a:rPr>
              <a:t>Since </a:t>
            </a:r>
            <a:r>
              <a:rPr lang="en-US" i="1" dirty="0">
                <a:latin typeface="Aptos Narrow" panose="020B0004020202020204" pitchFamily="34" charset="0"/>
              </a:rPr>
              <a:t>Members</a:t>
            </a:r>
            <a:r>
              <a:rPr lang="en-US" dirty="0">
                <a:latin typeface="Aptos Narrow" panose="020B0004020202020204" pitchFamily="34" charset="0"/>
              </a:rPr>
              <a:t> have more transactions but </a:t>
            </a:r>
            <a:r>
              <a:rPr lang="en-US" i="1" dirty="0">
                <a:latin typeface="Aptos Narrow" panose="020B0004020202020204" pitchFamily="34" charset="0"/>
              </a:rPr>
              <a:t>Normal</a:t>
            </a:r>
            <a:r>
              <a:rPr lang="en-US" dirty="0">
                <a:latin typeface="Aptos Narrow" panose="020B0004020202020204" pitchFamily="34" charset="0"/>
              </a:rPr>
              <a:t> customers spend more and buy more items, the membership program should be reviewed for ROI, high-spending normal customers should be targeted for conversion, and communication should be tailored to each group based on their spending behavior.</a:t>
            </a:r>
          </a:p>
          <a:p>
            <a:r>
              <a:rPr lang="en-US" dirty="0">
                <a:latin typeface="Aptos Narrow" panose="020B0004020202020204" pitchFamily="34" charset="0"/>
              </a:rPr>
              <a:t>Marketing should focus on the right gender for each category, spend more on products that sell the most, and reduce ads for groups that rarely buy.</a:t>
            </a:r>
          </a:p>
          <a:p>
            <a:r>
              <a:rPr lang="en-US" dirty="0">
                <a:latin typeface="Aptos Narrow" panose="020B0004020202020204" pitchFamily="34" charset="0"/>
              </a:rPr>
              <a:t>Focus on improving the premium experience for Members to increase high-end satisfaction and reduce variation in ratings.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859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A6F0-CC76-0DE8-FEE1-46ED9240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Conclusion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50081-FA11-BE15-EFBB-B0C39BCE8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15733"/>
            <a:ext cx="11572567" cy="322486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ptos Narrow" panose="020B0004020202020204" pitchFamily="34" charset="0"/>
              </a:rPr>
              <a:t>The dashboard offers a clear overview of sales, customer behavior, and branch performance, highlighting key insights and opportunities for improvement. 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Thank you to the board for your time and attention.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BDE8B-5315-AB74-067C-3EBEA87A4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16877" y="3428999"/>
            <a:ext cx="4975122" cy="2739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B2AE7D-7105-4F4F-BFC0-DCB9E7749225}"/>
              </a:ext>
            </a:extLst>
          </p:cNvPr>
          <p:cNvSpPr txBox="1"/>
          <p:nvPr/>
        </p:nvSpPr>
        <p:spPr>
          <a:xfrm>
            <a:off x="7315200" y="6053481"/>
            <a:ext cx="4876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reedbrothersdodgehistory.wordpress.com/2014/12/20/seasons-greetings-and-happy-holidays-2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40611292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4166</TotalTime>
  <Words>606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 Narrow</vt:lpstr>
      <vt:lpstr>Arial</vt:lpstr>
      <vt:lpstr>Gill Sans MT</vt:lpstr>
      <vt:lpstr>Gallery</vt:lpstr>
      <vt:lpstr>FreshMart Analytics Dashboard</vt:lpstr>
      <vt:lpstr>Problem Summary </vt:lpstr>
      <vt:lpstr>Objective of the Analysis </vt:lpstr>
      <vt:lpstr>Dataset Overview</vt:lpstr>
      <vt:lpstr>Key Metrics (KPIs)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Findings</vt:lpstr>
      <vt:lpstr>Recommendations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Babra Odongo</dc:creator>
  <cp:lastModifiedBy>Babra Odongo</cp:lastModifiedBy>
  <cp:revision>2</cp:revision>
  <dcterms:created xsi:type="dcterms:W3CDTF">2025-12-03T19:40:46Z</dcterms:created>
  <dcterms:modified xsi:type="dcterms:W3CDTF">2025-12-06T17:38:17Z</dcterms:modified>
</cp:coreProperties>
</file>